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6858000" cx="12191675"/>
  <p:notesSz cx="6858000" cy="12191675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" name="Google Shape;3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" name="Google Shape;4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" name="Google Shape;180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Google Shape;16;p3"/>
          <p:cNvCxnSpPr/>
          <p:nvPr/>
        </p:nvCxnSpPr>
        <p:spPr>
          <a:xfrm>
            <a:off x="320040" y="320040"/>
            <a:ext cx="201168" cy="0"/>
          </a:xfrm>
          <a:prstGeom prst="straightConnector1">
            <a:avLst/>
          </a:prstGeom>
          <a:noFill/>
          <a:ln cap="flat" cmpd="sng" w="15225">
            <a:solidFill>
              <a:srgbClr val="5A6A7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" name="Google Shape;17;p3"/>
          <p:cNvCxnSpPr/>
          <p:nvPr/>
        </p:nvCxnSpPr>
        <p:spPr>
          <a:xfrm>
            <a:off x="320040" y="320040"/>
            <a:ext cx="0" cy="201168"/>
          </a:xfrm>
          <a:prstGeom prst="straightConnector1">
            <a:avLst/>
          </a:prstGeom>
          <a:noFill/>
          <a:ln cap="flat" cmpd="sng" w="15225">
            <a:solidFill>
              <a:srgbClr val="5A6A7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" name="Google Shape;18;p3"/>
          <p:cNvCxnSpPr/>
          <p:nvPr/>
        </p:nvCxnSpPr>
        <p:spPr>
          <a:xfrm rot="10800000">
            <a:off x="11670487" y="320040"/>
            <a:ext cx="201168" cy="0"/>
          </a:xfrm>
          <a:prstGeom prst="straightConnector1">
            <a:avLst/>
          </a:prstGeom>
          <a:noFill/>
          <a:ln cap="flat" cmpd="sng" w="15225">
            <a:solidFill>
              <a:srgbClr val="5A6A7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" name="Google Shape;19;p3"/>
          <p:cNvCxnSpPr/>
          <p:nvPr/>
        </p:nvCxnSpPr>
        <p:spPr>
          <a:xfrm>
            <a:off x="11871655" y="320040"/>
            <a:ext cx="0" cy="201168"/>
          </a:xfrm>
          <a:prstGeom prst="straightConnector1">
            <a:avLst/>
          </a:prstGeom>
          <a:noFill/>
          <a:ln cap="flat" cmpd="sng" w="15225">
            <a:solidFill>
              <a:srgbClr val="5A6A7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" name="Google Shape;20;p3"/>
          <p:cNvCxnSpPr/>
          <p:nvPr/>
        </p:nvCxnSpPr>
        <p:spPr>
          <a:xfrm>
            <a:off x="320040" y="6537960"/>
            <a:ext cx="201168" cy="0"/>
          </a:xfrm>
          <a:prstGeom prst="straightConnector1">
            <a:avLst/>
          </a:prstGeom>
          <a:noFill/>
          <a:ln cap="flat" cmpd="sng" w="15225">
            <a:solidFill>
              <a:srgbClr val="5A6A7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" name="Google Shape;21;p3"/>
          <p:cNvCxnSpPr/>
          <p:nvPr/>
        </p:nvCxnSpPr>
        <p:spPr>
          <a:xfrm rot="10800000">
            <a:off x="320040" y="6336792"/>
            <a:ext cx="0" cy="201168"/>
          </a:xfrm>
          <a:prstGeom prst="straightConnector1">
            <a:avLst/>
          </a:prstGeom>
          <a:noFill/>
          <a:ln cap="flat" cmpd="sng" w="15225">
            <a:solidFill>
              <a:srgbClr val="5A6A7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" name="Google Shape;22;p3"/>
          <p:cNvCxnSpPr/>
          <p:nvPr/>
        </p:nvCxnSpPr>
        <p:spPr>
          <a:xfrm rot="10800000">
            <a:off x="11670487" y="6537960"/>
            <a:ext cx="201168" cy="0"/>
          </a:xfrm>
          <a:prstGeom prst="straightConnector1">
            <a:avLst/>
          </a:prstGeom>
          <a:noFill/>
          <a:ln cap="flat" cmpd="sng" w="15225">
            <a:solidFill>
              <a:srgbClr val="5A6A7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" name="Google Shape;23;p3"/>
          <p:cNvCxnSpPr/>
          <p:nvPr/>
        </p:nvCxnSpPr>
        <p:spPr>
          <a:xfrm rot="10800000">
            <a:off x="11871655" y="6336792"/>
            <a:ext cx="0" cy="201168"/>
          </a:xfrm>
          <a:prstGeom prst="straightConnector1">
            <a:avLst/>
          </a:prstGeom>
          <a:noFill/>
          <a:ln cap="flat" cmpd="sng" w="15225">
            <a:solidFill>
              <a:srgbClr val="5A6A7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" name="Google Shape;24;p3"/>
          <p:cNvSpPr/>
          <p:nvPr/>
        </p:nvSpPr>
        <p:spPr>
          <a:xfrm>
            <a:off x="10545775" y="6300208"/>
            <a:ext cx="1280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A6A7A"/>
                </a:solidFill>
                <a:latin typeface="Arial"/>
                <a:ea typeface="Arial"/>
                <a:cs typeface="Arial"/>
                <a:sym typeface="Arial"/>
              </a:rPr>
              <a:t>01 / 1</a:t>
            </a:r>
            <a:r>
              <a:rPr lang="en-US" sz="1100">
                <a:solidFill>
                  <a:srgbClr val="5A6A7A"/>
                </a:solidFill>
              </a:rPr>
              <a:t>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929475" y="320050"/>
            <a:ext cx="10332600" cy="128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F6FF"/>
              </a:buClr>
              <a:buSzPts val="1600"/>
              <a:buFont typeface="Arial"/>
              <a:buNone/>
            </a:pPr>
            <a:r>
              <a:rPr i="0" lang="en-US" sz="1600" u="none" cap="none" strike="noStrike">
                <a:solidFill>
                  <a:srgbClr val="E8F6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Аккредитованное образовательное частное учреждение</a:t>
            </a:r>
            <a:endParaRPr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F6FF"/>
              </a:buClr>
              <a:buSzPts val="1600"/>
              <a:buFont typeface="Arial"/>
              <a:buNone/>
            </a:pPr>
            <a:r>
              <a:rPr i="0" lang="en-US" sz="1600" u="none" cap="none" strike="noStrike">
                <a:solidFill>
                  <a:srgbClr val="E8F6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высшего образования</a:t>
            </a:r>
            <a:endParaRPr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F6FF"/>
              </a:buClr>
              <a:buSzPts val="1600"/>
              <a:buFont typeface="Arial"/>
              <a:buNone/>
            </a:pPr>
            <a:r>
              <a:rPr i="0" lang="en-US" sz="1600" u="none" cap="none" strike="noStrike">
                <a:solidFill>
                  <a:srgbClr val="E8F6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«Московский финансово-юридический университет МФЮА»</a:t>
            </a:r>
            <a:endParaRPr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929475" y="2313058"/>
            <a:ext cx="10332600" cy="164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E8"/>
              </a:buClr>
              <a:buSzPts val="2600"/>
              <a:buFont typeface="Arial"/>
              <a:buNone/>
            </a:pPr>
            <a:r>
              <a:rPr i="0" lang="en-US" sz="2600" u="none" cap="none" strike="noStrike">
                <a:solidFill>
                  <a:srgbClr val="00D4E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Анализ больших данных в мониторинге сетей</a:t>
            </a:r>
            <a:endParaRPr i="0" sz="2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E8"/>
              </a:buClr>
              <a:buSzPts val="2600"/>
              <a:buFont typeface="Arial"/>
              <a:buNone/>
            </a:pPr>
            <a:r>
              <a:rPr i="0" lang="en-US" sz="2600" u="none" cap="none" strike="noStrike">
                <a:solidFill>
                  <a:srgbClr val="00D4E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(Big Data Analytics)</a:t>
            </a:r>
            <a:endParaRPr i="0" sz="2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E8"/>
              </a:buClr>
              <a:buSzPts val="2600"/>
              <a:buFont typeface="Arial"/>
              <a:buNone/>
            </a:pPr>
            <a:r>
              <a:rPr i="0" lang="en-US" sz="2600" u="none" cap="none" strike="noStrike">
                <a:solidFill>
                  <a:srgbClr val="00D4E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Поиск аномалий в терабайтах телеметрии</a:t>
            </a:r>
            <a:endParaRPr i="0" sz="2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7506225" y="4671775"/>
            <a:ext cx="4319700" cy="76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F6FF"/>
              </a:buClr>
              <a:buSzPts val="1600"/>
              <a:buFont typeface="Arial"/>
              <a:buNone/>
            </a:pPr>
            <a:r>
              <a:rPr i="0" lang="en-US" sz="1600" u="none" cap="none" strike="noStrike">
                <a:solidFill>
                  <a:srgbClr val="E8F6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Выполнил: </a:t>
            </a:r>
            <a:r>
              <a:rPr lang="en-US" sz="1600">
                <a:solidFill>
                  <a:srgbClr val="E8F6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Дубенко Даниил Владимирович</a:t>
            </a:r>
            <a:endParaRPr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6FF"/>
              </a:buClr>
              <a:buSzPts val="1600"/>
              <a:buFont typeface="Arial"/>
              <a:buNone/>
            </a:pPr>
            <a:r>
              <a:t/>
            </a:r>
            <a:endParaRPr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F6FF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E8F6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Студент группы </a:t>
            </a:r>
            <a:r>
              <a:rPr i="0" lang="en-US" sz="1600" u="none" cap="none" strike="noStrike">
                <a:solidFill>
                  <a:srgbClr val="E8F6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31ИПО8481</a:t>
            </a:r>
            <a:endParaRPr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929538" y="5971095"/>
            <a:ext cx="10332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1500"/>
              <a:buFont typeface="Arial"/>
              <a:buNone/>
            </a:pPr>
            <a:r>
              <a:rPr i="0" lang="en-US" sz="1500" u="none" cap="none" strike="noStrike">
                <a:solidFill>
                  <a:srgbClr val="5A6A7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г. Ярославль, 2026</a:t>
            </a:r>
            <a:endParaRPr i="0" sz="15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" name="Google Shape;34;p4"/>
          <p:cNvCxnSpPr/>
          <p:nvPr/>
        </p:nvCxnSpPr>
        <p:spPr>
          <a:xfrm>
            <a:off x="320040" y="320040"/>
            <a:ext cx="201168" cy="0"/>
          </a:xfrm>
          <a:prstGeom prst="straightConnector1">
            <a:avLst/>
          </a:prstGeom>
          <a:noFill/>
          <a:ln cap="flat" cmpd="sng" w="15225">
            <a:solidFill>
              <a:srgbClr val="5A6A7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" name="Google Shape;35;p4"/>
          <p:cNvCxnSpPr/>
          <p:nvPr/>
        </p:nvCxnSpPr>
        <p:spPr>
          <a:xfrm>
            <a:off x="320040" y="320040"/>
            <a:ext cx="0" cy="201168"/>
          </a:xfrm>
          <a:prstGeom prst="straightConnector1">
            <a:avLst/>
          </a:prstGeom>
          <a:noFill/>
          <a:ln cap="flat" cmpd="sng" w="15225">
            <a:solidFill>
              <a:srgbClr val="5A6A7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" name="Google Shape;36;p4"/>
          <p:cNvCxnSpPr/>
          <p:nvPr/>
        </p:nvCxnSpPr>
        <p:spPr>
          <a:xfrm rot="10800000">
            <a:off x="11670487" y="320040"/>
            <a:ext cx="201168" cy="0"/>
          </a:xfrm>
          <a:prstGeom prst="straightConnector1">
            <a:avLst/>
          </a:prstGeom>
          <a:noFill/>
          <a:ln cap="flat" cmpd="sng" w="15225">
            <a:solidFill>
              <a:srgbClr val="5A6A7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" name="Google Shape;37;p4"/>
          <p:cNvCxnSpPr/>
          <p:nvPr/>
        </p:nvCxnSpPr>
        <p:spPr>
          <a:xfrm>
            <a:off x="11871655" y="320040"/>
            <a:ext cx="0" cy="201168"/>
          </a:xfrm>
          <a:prstGeom prst="straightConnector1">
            <a:avLst/>
          </a:prstGeom>
          <a:noFill/>
          <a:ln cap="flat" cmpd="sng" w="15225">
            <a:solidFill>
              <a:srgbClr val="5A6A7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" name="Google Shape;38;p4"/>
          <p:cNvCxnSpPr/>
          <p:nvPr/>
        </p:nvCxnSpPr>
        <p:spPr>
          <a:xfrm>
            <a:off x="320040" y="6537960"/>
            <a:ext cx="201168" cy="0"/>
          </a:xfrm>
          <a:prstGeom prst="straightConnector1">
            <a:avLst/>
          </a:prstGeom>
          <a:noFill/>
          <a:ln cap="flat" cmpd="sng" w="15225">
            <a:solidFill>
              <a:srgbClr val="5A6A7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" name="Google Shape;39;p4"/>
          <p:cNvCxnSpPr/>
          <p:nvPr/>
        </p:nvCxnSpPr>
        <p:spPr>
          <a:xfrm rot="10800000">
            <a:off x="320040" y="6336792"/>
            <a:ext cx="0" cy="201168"/>
          </a:xfrm>
          <a:prstGeom prst="straightConnector1">
            <a:avLst/>
          </a:prstGeom>
          <a:noFill/>
          <a:ln cap="flat" cmpd="sng" w="15225">
            <a:solidFill>
              <a:srgbClr val="5A6A7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" name="Google Shape;40;p4"/>
          <p:cNvCxnSpPr/>
          <p:nvPr/>
        </p:nvCxnSpPr>
        <p:spPr>
          <a:xfrm rot="10800000">
            <a:off x="11670487" y="6537960"/>
            <a:ext cx="201168" cy="0"/>
          </a:xfrm>
          <a:prstGeom prst="straightConnector1">
            <a:avLst/>
          </a:prstGeom>
          <a:noFill/>
          <a:ln cap="flat" cmpd="sng" w="15225">
            <a:solidFill>
              <a:srgbClr val="5A6A7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" name="Google Shape;41;p4"/>
          <p:cNvCxnSpPr/>
          <p:nvPr/>
        </p:nvCxnSpPr>
        <p:spPr>
          <a:xfrm rot="10800000">
            <a:off x="11871655" y="6336792"/>
            <a:ext cx="0" cy="201168"/>
          </a:xfrm>
          <a:prstGeom prst="straightConnector1">
            <a:avLst/>
          </a:prstGeom>
          <a:noFill/>
          <a:ln cap="flat" cmpd="sng" w="15225">
            <a:solidFill>
              <a:srgbClr val="5A6A7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4"/>
          <p:cNvSpPr/>
          <p:nvPr/>
        </p:nvSpPr>
        <p:spPr>
          <a:xfrm>
            <a:off x="10545775" y="644652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A6A7A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-US" sz="1100">
                <a:solidFill>
                  <a:srgbClr val="5A6A7A"/>
                </a:solidFill>
              </a:rPr>
              <a:t>2</a:t>
            </a:r>
            <a:r>
              <a:rPr b="0" i="0" lang="en-US" sz="1100" u="none" cap="none" strike="noStrike">
                <a:solidFill>
                  <a:srgbClr val="5A6A7A"/>
                </a:solidFill>
                <a:latin typeface="Arial"/>
                <a:ea typeface="Arial"/>
                <a:cs typeface="Arial"/>
                <a:sym typeface="Arial"/>
              </a:rPr>
              <a:t> / 1</a:t>
            </a:r>
            <a:r>
              <a:rPr lang="en-US" sz="1100">
                <a:solidFill>
                  <a:srgbClr val="5A6A7A"/>
                </a:solidFill>
              </a:rPr>
              <a:t>0</a:t>
            </a:r>
            <a:endParaRPr sz="1100">
              <a:solidFill>
                <a:srgbClr val="5A6A7A"/>
              </a:solidFill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5A6A7A"/>
              </a:solidFill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5A6A7A"/>
              </a:solidFill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731520" y="41148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F6FF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E8F6FF"/>
                </a:solidFill>
                <a:latin typeface="Arial"/>
                <a:ea typeface="Arial"/>
                <a:cs typeface="Arial"/>
                <a:sym typeface="Arial"/>
              </a:rPr>
              <a:t>Введение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822960" y="1188720"/>
            <a:ext cx="1051560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E8"/>
              </a:buClr>
              <a:buSzPts val="1600"/>
              <a:buFont typeface="Arial"/>
              <a:buNone/>
            </a:pPr>
            <a:r>
              <a:rPr i="0" lang="en-US" sz="1600" u="none" cap="none" strike="noStrike">
                <a:solidFill>
                  <a:srgbClr val="00D4E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Современные корпоративные и операторские сети превратились в сложные </a:t>
            </a:r>
            <a:r>
              <a:rPr lang="en-US" sz="1600">
                <a:solidFill>
                  <a:srgbClr val="00D4E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распределенные</a:t>
            </a:r>
            <a:r>
              <a:rPr i="0" lang="en-US" sz="1600" u="none" cap="none" strike="noStrike">
                <a:solidFill>
                  <a:srgbClr val="00D4E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системы, которые ежедневно генерируют колоссальные объёмы телеметрии. Маршрутизаторы, коммутаторы, межсетевые экраны, балансировщики нагрузки, серверы и приложения непрерывно отправляют данные: NetFlow и sFlow, SNMP-метрики, syslog, логи приложений, трассировки и показатели производительности. На инфраструктурах среднего и крупного масштаба объём этих данных легко достигает сотен гигабайт, а нередко и нескольких терабайт в сутки.</a:t>
            </a:r>
            <a:endParaRPr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822960" y="2957220"/>
            <a:ext cx="10515600" cy="14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E8"/>
              </a:buClr>
              <a:buSzPts val="1600"/>
              <a:buFont typeface="Arial"/>
              <a:buNone/>
            </a:pPr>
            <a:r>
              <a:rPr i="0" lang="en-US" sz="1600" u="none" cap="none" strike="noStrike">
                <a:solidFill>
                  <a:srgbClr val="00D4E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Традиционные системы мониторинга, построенные на статических порогах и заранее написанных правилах, в таких условиях начинают давать сбои. Они либо пропускают важные отклонения (false negatives), либо создают огромное количество ложных срабатываний (false positives), что приводит к усталости операторов и снижению внимания к реальным инцидентам. Кроме того, «нормальное» поведение сети постоянно меняется: появляются новые сервисы, меняется нагрузка в течение дня и недели, происходят обновления и миграции.</a:t>
            </a:r>
            <a:endParaRPr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1" name="Google Shape;51;p5"/>
          <p:cNvCxnSpPr/>
          <p:nvPr/>
        </p:nvCxnSpPr>
        <p:spPr>
          <a:xfrm>
            <a:off x="320040" y="320040"/>
            <a:ext cx="201168" cy="0"/>
          </a:xfrm>
          <a:prstGeom prst="straightConnector1">
            <a:avLst/>
          </a:prstGeom>
          <a:noFill/>
          <a:ln cap="flat" cmpd="sng" w="15225">
            <a:solidFill>
              <a:srgbClr val="5A6A7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2" name="Google Shape;52;p5"/>
          <p:cNvCxnSpPr/>
          <p:nvPr/>
        </p:nvCxnSpPr>
        <p:spPr>
          <a:xfrm>
            <a:off x="320040" y="320040"/>
            <a:ext cx="0" cy="201168"/>
          </a:xfrm>
          <a:prstGeom prst="straightConnector1">
            <a:avLst/>
          </a:prstGeom>
          <a:noFill/>
          <a:ln cap="flat" cmpd="sng" w="15225">
            <a:solidFill>
              <a:srgbClr val="5A6A7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3" name="Google Shape;53;p5"/>
          <p:cNvCxnSpPr/>
          <p:nvPr/>
        </p:nvCxnSpPr>
        <p:spPr>
          <a:xfrm rot="10800000">
            <a:off x="11670487" y="320040"/>
            <a:ext cx="201168" cy="0"/>
          </a:xfrm>
          <a:prstGeom prst="straightConnector1">
            <a:avLst/>
          </a:prstGeom>
          <a:noFill/>
          <a:ln cap="flat" cmpd="sng" w="15225">
            <a:solidFill>
              <a:srgbClr val="5A6A7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4" name="Google Shape;54;p5"/>
          <p:cNvCxnSpPr/>
          <p:nvPr/>
        </p:nvCxnSpPr>
        <p:spPr>
          <a:xfrm>
            <a:off x="11871655" y="320040"/>
            <a:ext cx="0" cy="201168"/>
          </a:xfrm>
          <a:prstGeom prst="straightConnector1">
            <a:avLst/>
          </a:prstGeom>
          <a:noFill/>
          <a:ln cap="flat" cmpd="sng" w="15225">
            <a:solidFill>
              <a:srgbClr val="5A6A7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5" name="Google Shape;55;p5"/>
          <p:cNvCxnSpPr/>
          <p:nvPr/>
        </p:nvCxnSpPr>
        <p:spPr>
          <a:xfrm>
            <a:off x="320040" y="6537960"/>
            <a:ext cx="201168" cy="0"/>
          </a:xfrm>
          <a:prstGeom prst="straightConnector1">
            <a:avLst/>
          </a:prstGeom>
          <a:noFill/>
          <a:ln cap="flat" cmpd="sng" w="15225">
            <a:solidFill>
              <a:srgbClr val="5A6A7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6" name="Google Shape;56;p5"/>
          <p:cNvCxnSpPr/>
          <p:nvPr/>
        </p:nvCxnSpPr>
        <p:spPr>
          <a:xfrm rot="10800000">
            <a:off x="320040" y="6336792"/>
            <a:ext cx="0" cy="201168"/>
          </a:xfrm>
          <a:prstGeom prst="straightConnector1">
            <a:avLst/>
          </a:prstGeom>
          <a:noFill/>
          <a:ln cap="flat" cmpd="sng" w="15225">
            <a:solidFill>
              <a:srgbClr val="5A6A7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" name="Google Shape;57;p5"/>
          <p:cNvCxnSpPr/>
          <p:nvPr/>
        </p:nvCxnSpPr>
        <p:spPr>
          <a:xfrm rot="10800000">
            <a:off x="11670487" y="6537960"/>
            <a:ext cx="201168" cy="0"/>
          </a:xfrm>
          <a:prstGeom prst="straightConnector1">
            <a:avLst/>
          </a:prstGeom>
          <a:noFill/>
          <a:ln cap="flat" cmpd="sng" w="15225">
            <a:solidFill>
              <a:srgbClr val="5A6A7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8" name="Google Shape;58;p5"/>
          <p:cNvCxnSpPr/>
          <p:nvPr/>
        </p:nvCxnSpPr>
        <p:spPr>
          <a:xfrm rot="10800000">
            <a:off x="11871655" y="6336792"/>
            <a:ext cx="0" cy="201168"/>
          </a:xfrm>
          <a:prstGeom prst="straightConnector1">
            <a:avLst/>
          </a:prstGeom>
          <a:noFill/>
          <a:ln cap="flat" cmpd="sng" w="15225">
            <a:solidFill>
              <a:srgbClr val="5A6A7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9" name="Google Shape;59;p5"/>
          <p:cNvSpPr/>
          <p:nvPr/>
        </p:nvSpPr>
        <p:spPr>
          <a:xfrm>
            <a:off x="10527325" y="6336808"/>
            <a:ext cx="1280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5A6A7A"/>
                </a:solidFill>
              </a:rPr>
              <a:t>03 / 10</a:t>
            </a:r>
            <a:endParaRPr sz="1100">
              <a:solidFill>
                <a:srgbClr val="5A6A7A"/>
              </a:solidFill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5A6A7A"/>
              </a:solidFill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731520" y="41148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F6FF"/>
              </a:buClr>
              <a:buSzPts val="2800"/>
              <a:buFont typeface="Arial"/>
              <a:buNone/>
            </a:pPr>
            <a:r>
              <a:rPr i="0" lang="en-US" sz="2800" u="none" cap="none" strike="noStrike">
                <a:solidFill>
                  <a:srgbClr val="E8F6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Основные вызовы</a:t>
            </a:r>
            <a:endParaRPr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822950" y="1143000"/>
            <a:ext cx="10515600" cy="7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E8"/>
              </a:buClr>
              <a:buSzPts val="1600"/>
              <a:buFont typeface="Arial"/>
              <a:buNone/>
            </a:pPr>
            <a:r>
              <a:rPr i="0" lang="en-US" sz="1600" u="none" cap="none" strike="noStrike">
                <a:solidFill>
                  <a:srgbClr val="00D4E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Объём (Volume). Сети генерируют сотни гигабайт и терабайты телеметрии ежедневно: NetFlow, sFlow, SNMP, syslog, метрики, логи приложений. Классические системы не рассчитаны на такой поток данных.</a:t>
            </a:r>
            <a:endParaRPr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2" name="Google Shape;62;p5"/>
          <p:cNvSpPr/>
          <p:nvPr/>
        </p:nvSpPr>
        <p:spPr>
          <a:xfrm>
            <a:off x="838050" y="1997700"/>
            <a:ext cx="10515600" cy="7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E8"/>
              </a:buClr>
              <a:buSzPts val="1600"/>
              <a:buFont typeface="Arial"/>
              <a:buNone/>
            </a:pPr>
            <a:r>
              <a:rPr i="0" lang="en-US" sz="1600" u="none" cap="none" strike="noStrike">
                <a:solidFill>
                  <a:srgbClr val="00D4E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Скорость (Velocity). Данные поступают непрерывно. Для безопасности и соблюдения SLA реакция нужна в течение секунд или минут. Задержки в обработке уже критичны.</a:t>
            </a:r>
            <a:endParaRPr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822950" y="2884745"/>
            <a:ext cx="10515600" cy="82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E8"/>
              </a:buClr>
              <a:buSzPts val="1600"/>
              <a:buFont typeface="Arial"/>
              <a:buNone/>
            </a:pPr>
            <a:r>
              <a:rPr i="0" lang="en-US" sz="1600" u="none" cap="none" strike="noStrike">
                <a:solidFill>
                  <a:srgbClr val="00D4E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Разнообразие (Variety). Структурированные и неструктурированные данные, разные протоколы, вендоры и форматы. Нормализация и обогащение становятся обязательным этапом.</a:t>
            </a:r>
            <a:endParaRPr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822950" y="3811700"/>
            <a:ext cx="10515600" cy="82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E8"/>
              </a:buClr>
              <a:buSzPts val="1600"/>
              <a:buFont typeface="Arial"/>
              <a:buNone/>
            </a:pPr>
            <a:r>
              <a:rPr i="0" lang="en-US" sz="1600" u="none" cap="none" strike="noStrike">
                <a:solidFill>
                  <a:srgbClr val="00D4E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Шум и изменчивость. «Норма» постоянно меняется. Слишком чувствительные системы создают alert fatigue, а слишком грубые — пропускают инциденты.</a:t>
            </a:r>
            <a:endParaRPr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0" name="Google Shape;70;p6"/>
          <p:cNvCxnSpPr/>
          <p:nvPr/>
        </p:nvCxnSpPr>
        <p:spPr>
          <a:xfrm>
            <a:off x="320040" y="320040"/>
            <a:ext cx="201168" cy="0"/>
          </a:xfrm>
          <a:prstGeom prst="straightConnector1">
            <a:avLst/>
          </a:prstGeom>
          <a:noFill/>
          <a:ln cap="flat" cmpd="sng" w="15225">
            <a:solidFill>
              <a:srgbClr val="5A6A7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1" name="Google Shape;71;p6"/>
          <p:cNvCxnSpPr/>
          <p:nvPr/>
        </p:nvCxnSpPr>
        <p:spPr>
          <a:xfrm>
            <a:off x="320040" y="320040"/>
            <a:ext cx="0" cy="201168"/>
          </a:xfrm>
          <a:prstGeom prst="straightConnector1">
            <a:avLst/>
          </a:prstGeom>
          <a:noFill/>
          <a:ln cap="flat" cmpd="sng" w="15225">
            <a:solidFill>
              <a:srgbClr val="5A6A7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2" name="Google Shape;72;p6"/>
          <p:cNvCxnSpPr/>
          <p:nvPr/>
        </p:nvCxnSpPr>
        <p:spPr>
          <a:xfrm rot="10800000">
            <a:off x="11670487" y="320040"/>
            <a:ext cx="201168" cy="0"/>
          </a:xfrm>
          <a:prstGeom prst="straightConnector1">
            <a:avLst/>
          </a:prstGeom>
          <a:noFill/>
          <a:ln cap="flat" cmpd="sng" w="15225">
            <a:solidFill>
              <a:srgbClr val="5A6A7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3" name="Google Shape;73;p6"/>
          <p:cNvCxnSpPr/>
          <p:nvPr/>
        </p:nvCxnSpPr>
        <p:spPr>
          <a:xfrm>
            <a:off x="11871655" y="320040"/>
            <a:ext cx="0" cy="201168"/>
          </a:xfrm>
          <a:prstGeom prst="straightConnector1">
            <a:avLst/>
          </a:prstGeom>
          <a:noFill/>
          <a:ln cap="flat" cmpd="sng" w="15225">
            <a:solidFill>
              <a:srgbClr val="5A6A7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4" name="Google Shape;74;p6"/>
          <p:cNvCxnSpPr/>
          <p:nvPr/>
        </p:nvCxnSpPr>
        <p:spPr>
          <a:xfrm>
            <a:off x="320040" y="6537960"/>
            <a:ext cx="201168" cy="0"/>
          </a:xfrm>
          <a:prstGeom prst="straightConnector1">
            <a:avLst/>
          </a:prstGeom>
          <a:noFill/>
          <a:ln cap="flat" cmpd="sng" w="15225">
            <a:solidFill>
              <a:srgbClr val="5A6A7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5" name="Google Shape;75;p6"/>
          <p:cNvCxnSpPr/>
          <p:nvPr/>
        </p:nvCxnSpPr>
        <p:spPr>
          <a:xfrm rot="10800000">
            <a:off x="320040" y="6336792"/>
            <a:ext cx="0" cy="201168"/>
          </a:xfrm>
          <a:prstGeom prst="straightConnector1">
            <a:avLst/>
          </a:prstGeom>
          <a:noFill/>
          <a:ln cap="flat" cmpd="sng" w="15225">
            <a:solidFill>
              <a:srgbClr val="5A6A7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6" name="Google Shape;76;p6"/>
          <p:cNvCxnSpPr/>
          <p:nvPr/>
        </p:nvCxnSpPr>
        <p:spPr>
          <a:xfrm rot="10800000">
            <a:off x="11670487" y="6537960"/>
            <a:ext cx="201168" cy="0"/>
          </a:xfrm>
          <a:prstGeom prst="straightConnector1">
            <a:avLst/>
          </a:prstGeom>
          <a:noFill/>
          <a:ln cap="flat" cmpd="sng" w="15225">
            <a:solidFill>
              <a:srgbClr val="5A6A7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7" name="Google Shape;77;p6"/>
          <p:cNvCxnSpPr/>
          <p:nvPr/>
        </p:nvCxnSpPr>
        <p:spPr>
          <a:xfrm rot="10800000">
            <a:off x="11871655" y="6336792"/>
            <a:ext cx="0" cy="201168"/>
          </a:xfrm>
          <a:prstGeom prst="straightConnector1">
            <a:avLst/>
          </a:prstGeom>
          <a:noFill/>
          <a:ln cap="flat" cmpd="sng" w="15225">
            <a:solidFill>
              <a:srgbClr val="5A6A7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8" name="Google Shape;78;p6"/>
          <p:cNvSpPr/>
          <p:nvPr/>
        </p:nvSpPr>
        <p:spPr>
          <a:xfrm>
            <a:off x="10545350" y="6217208"/>
            <a:ext cx="1280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5A6A7A"/>
                </a:solidFill>
              </a:rPr>
              <a:t>04 / 10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6"/>
          <p:cNvSpPr/>
          <p:nvPr/>
        </p:nvSpPr>
        <p:spPr>
          <a:xfrm>
            <a:off x="731520" y="41148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F6FF"/>
              </a:buClr>
              <a:buSzPts val="2800"/>
              <a:buFont typeface="Arial"/>
              <a:buNone/>
            </a:pPr>
            <a:r>
              <a:rPr i="0" lang="en-US" sz="2800" u="none" cap="none" strike="noStrike">
                <a:solidFill>
                  <a:srgbClr val="E8F6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Архитектура решения</a:t>
            </a:r>
            <a:endParaRPr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0" name="Google Shape;80;p6"/>
          <p:cNvSpPr/>
          <p:nvPr/>
        </p:nvSpPr>
        <p:spPr>
          <a:xfrm>
            <a:off x="822950" y="1143000"/>
            <a:ext cx="105156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E8"/>
              </a:buClr>
              <a:buSzPts val="1600"/>
              <a:buFont typeface="Arial"/>
              <a:buNone/>
            </a:pPr>
            <a:r>
              <a:rPr i="0" lang="en-US" sz="1600" u="none" cap="none" strike="noStrike">
                <a:solidFill>
                  <a:srgbClr val="00D4E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Сбор (Ingest). Агенты, экспортёры, коллекторы NetFlow и syslog отправляют данные в брокер сообщений (Kafka, Pulsar). Это обеспечивает буферизацию и </a:t>
            </a:r>
            <a:r>
              <a:rPr lang="en-US" sz="1600">
                <a:solidFill>
                  <a:srgbClr val="00D4E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надежную</a:t>
            </a:r>
            <a:r>
              <a:rPr i="0" lang="en-US" sz="1600" u="none" cap="none" strike="noStrike">
                <a:solidFill>
                  <a:srgbClr val="00D4E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доставку.</a:t>
            </a:r>
            <a:endParaRPr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1" name="Google Shape;81;p6"/>
          <p:cNvSpPr/>
          <p:nvPr/>
        </p:nvSpPr>
        <p:spPr>
          <a:xfrm>
            <a:off x="838038" y="2014263"/>
            <a:ext cx="10515600" cy="81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E8"/>
              </a:buClr>
              <a:buSzPts val="1600"/>
              <a:buFont typeface="Arial"/>
              <a:buNone/>
            </a:pPr>
            <a:r>
              <a:rPr i="0" lang="en-US" sz="1600" u="none" cap="none" strike="noStrike">
                <a:solidFill>
                  <a:srgbClr val="00D4E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Хранение. Горячие данные — в колоночных СУБД (ClickHouse, Druid, TimescaleDB). Холодные — в объектном хранилище (S3, MinIO).</a:t>
            </a:r>
            <a:endParaRPr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2" name="Google Shape;82;p6"/>
          <p:cNvSpPr/>
          <p:nvPr/>
        </p:nvSpPr>
        <p:spPr>
          <a:xfrm>
            <a:off x="822950" y="2994669"/>
            <a:ext cx="105156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E8"/>
              </a:buClr>
              <a:buSzPts val="1600"/>
              <a:buFont typeface="Arial"/>
              <a:buNone/>
            </a:pPr>
            <a:r>
              <a:rPr i="0" lang="en-US" sz="1600" u="none" cap="none" strike="noStrike">
                <a:solidFill>
                  <a:srgbClr val="00D4E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Обработка. Stream-обработка (Flink, Spark Streaming) для онлайн-детекции и batch — для обучения моделей и исторического анализа.</a:t>
            </a:r>
            <a:endParaRPr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3" name="Google Shape;83;p6"/>
          <p:cNvSpPr/>
          <p:nvPr/>
        </p:nvSpPr>
        <p:spPr>
          <a:xfrm>
            <a:off x="838050" y="3808675"/>
            <a:ext cx="10515600" cy="7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E8"/>
              </a:buClr>
              <a:buSzPts val="1600"/>
              <a:buFont typeface="Arial"/>
              <a:buNone/>
            </a:pPr>
            <a:r>
              <a:rPr i="0" lang="en-US" sz="1600" u="none" cap="none" strike="noStrike">
                <a:solidFill>
                  <a:srgbClr val="00D4E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 Детекция и реакция. Feature engineering → модели и правила → корреляция событий → алерты, SOAR, дашборды и автоматические действия.</a:t>
            </a:r>
            <a:endParaRPr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9" name="Google Shape;89;p7"/>
          <p:cNvCxnSpPr/>
          <p:nvPr/>
        </p:nvCxnSpPr>
        <p:spPr>
          <a:xfrm>
            <a:off x="320040" y="320040"/>
            <a:ext cx="201300" cy="0"/>
          </a:xfrm>
          <a:prstGeom prst="straightConnector1">
            <a:avLst/>
          </a:prstGeom>
          <a:noFill/>
          <a:ln cap="flat" cmpd="sng" w="15225">
            <a:solidFill>
              <a:srgbClr val="5A6A7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0" name="Google Shape;90;p7"/>
          <p:cNvCxnSpPr/>
          <p:nvPr/>
        </p:nvCxnSpPr>
        <p:spPr>
          <a:xfrm>
            <a:off x="320040" y="320040"/>
            <a:ext cx="0" cy="201168"/>
          </a:xfrm>
          <a:prstGeom prst="straightConnector1">
            <a:avLst/>
          </a:prstGeom>
          <a:noFill/>
          <a:ln cap="flat" cmpd="sng" w="15225">
            <a:solidFill>
              <a:srgbClr val="5A6A7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1" name="Google Shape;91;p7"/>
          <p:cNvCxnSpPr/>
          <p:nvPr/>
        </p:nvCxnSpPr>
        <p:spPr>
          <a:xfrm rot="10800000">
            <a:off x="11670487" y="320040"/>
            <a:ext cx="201168" cy="0"/>
          </a:xfrm>
          <a:prstGeom prst="straightConnector1">
            <a:avLst/>
          </a:prstGeom>
          <a:noFill/>
          <a:ln cap="flat" cmpd="sng" w="15225">
            <a:solidFill>
              <a:srgbClr val="5A6A7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2" name="Google Shape;92;p7"/>
          <p:cNvCxnSpPr/>
          <p:nvPr/>
        </p:nvCxnSpPr>
        <p:spPr>
          <a:xfrm>
            <a:off x="11871655" y="320040"/>
            <a:ext cx="0" cy="201168"/>
          </a:xfrm>
          <a:prstGeom prst="straightConnector1">
            <a:avLst/>
          </a:prstGeom>
          <a:noFill/>
          <a:ln cap="flat" cmpd="sng" w="15225">
            <a:solidFill>
              <a:srgbClr val="5A6A7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3" name="Google Shape;93;p7"/>
          <p:cNvCxnSpPr/>
          <p:nvPr/>
        </p:nvCxnSpPr>
        <p:spPr>
          <a:xfrm>
            <a:off x="320040" y="6537960"/>
            <a:ext cx="201168" cy="0"/>
          </a:xfrm>
          <a:prstGeom prst="straightConnector1">
            <a:avLst/>
          </a:prstGeom>
          <a:noFill/>
          <a:ln cap="flat" cmpd="sng" w="15225">
            <a:solidFill>
              <a:srgbClr val="5A6A7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4" name="Google Shape;94;p7"/>
          <p:cNvCxnSpPr/>
          <p:nvPr/>
        </p:nvCxnSpPr>
        <p:spPr>
          <a:xfrm rot="10800000">
            <a:off x="320040" y="6336792"/>
            <a:ext cx="0" cy="201168"/>
          </a:xfrm>
          <a:prstGeom prst="straightConnector1">
            <a:avLst/>
          </a:prstGeom>
          <a:noFill/>
          <a:ln cap="flat" cmpd="sng" w="15225">
            <a:solidFill>
              <a:srgbClr val="5A6A7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5" name="Google Shape;95;p7"/>
          <p:cNvCxnSpPr/>
          <p:nvPr/>
        </p:nvCxnSpPr>
        <p:spPr>
          <a:xfrm rot="10800000">
            <a:off x="11670487" y="6537960"/>
            <a:ext cx="201168" cy="0"/>
          </a:xfrm>
          <a:prstGeom prst="straightConnector1">
            <a:avLst/>
          </a:prstGeom>
          <a:noFill/>
          <a:ln cap="flat" cmpd="sng" w="15225">
            <a:solidFill>
              <a:srgbClr val="5A6A7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6" name="Google Shape;96;p7"/>
          <p:cNvCxnSpPr/>
          <p:nvPr/>
        </p:nvCxnSpPr>
        <p:spPr>
          <a:xfrm rot="10800000">
            <a:off x="11871655" y="6336792"/>
            <a:ext cx="0" cy="201168"/>
          </a:xfrm>
          <a:prstGeom prst="straightConnector1">
            <a:avLst/>
          </a:prstGeom>
          <a:noFill/>
          <a:ln cap="flat" cmpd="sng" w="15225">
            <a:solidFill>
              <a:srgbClr val="5A6A7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7" name="Google Shape;97;p7"/>
          <p:cNvSpPr/>
          <p:nvPr/>
        </p:nvSpPr>
        <p:spPr>
          <a:xfrm>
            <a:off x="10545775" y="6263620"/>
            <a:ext cx="1280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5A6A7A"/>
                </a:solidFill>
              </a:rPr>
              <a:t>05 / 10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7"/>
          <p:cNvSpPr/>
          <p:nvPr/>
        </p:nvSpPr>
        <p:spPr>
          <a:xfrm>
            <a:off x="731520" y="41148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F6FF"/>
              </a:buClr>
              <a:buSzPts val="2800"/>
              <a:buFont typeface="Arial"/>
              <a:buNone/>
            </a:pPr>
            <a:r>
              <a:rPr i="0" lang="en-US" sz="2800" u="none" cap="none" strike="noStrike">
                <a:solidFill>
                  <a:srgbClr val="E8F6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Методы поиска аномалий</a:t>
            </a:r>
            <a:endParaRPr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" name="Google Shape;99;p7"/>
          <p:cNvSpPr/>
          <p:nvPr/>
        </p:nvSpPr>
        <p:spPr>
          <a:xfrm>
            <a:off x="822950" y="1234445"/>
            <a:ext cx="10515600" cy="7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E8"/>
              </a:buClr>
              <a:buSzPts val="1600"/>
              <a:buFont typeface="Arial"/>
              <a:buNone/>
            </a:pPr>
            <a:r>
              <a:rPr i="0" lang="en-US" sz="1600" u="none" cap="none" strike="noStrike">
                <a:solidFill>
                  <a:srgbClr val="00D4E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Статистические методы: Z-score, Median Absolute Deviation (MAD), EWMA, сезонная декомпозиция (STL), контрольные карты. Хорошо работают на стабильных метриках и требуют меньше данных.</a:t>
            </a:r>
            <a:endParaRPr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0" name="Google Shape;100;p7"/>
          <p:cNvSpPr/>
          <p:nvPr/>
        </p:nvSpPr>
        <p:spPr>
          <a:xfrm>
            <a:off x="822950" y="2162995"/>
            <a:ext cx="10515600" cy="7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E8"/>
              </a:buClr>
              <a:buSzPts val="1600"/>
              <a:buFont typeface="Arial"/>
              <a:buNone/>
            </a:pPr>
            <a:r>
              <a:rPr i="0" lang="en-US" sz="1600" u="none" cap="none" strike="noStrike">
                <a:solidFill>
                  <a:srgbClr val="00D4E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Машинное обучение: Isolation Forest, One-Class SVM, Autoencoder и VAE, LSTM и Transformer для временных рядов, кластеризация (DBSCAN, HDBSCAN). Позволяют находить сложные и ранее неизвестные паттерны.</a:t>
            </a:r>
            <a:endParaRPr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1" name="Google Shape;101;p7"/>
          <p:cNvSpPr/>
          <p:nvPr/>
        </p:nvSpPr>
        <p:spPr>
          <a:xfrm>
            <a:off x="731525" y="2994673"/>
            <a:ext cx="10515600" cy="106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E8"/>
              </a:buClr>
              <a:buSzPts val="1600"/>
              <a:buFont typeface="Arial"/>
              <a:buNone/>
            </a:pPr>
            <a:r>
              <a:rPr i="0" lang="en-US" sz="1600" u="none" cap="none" strike="noStrike">
                <a:solidFill>
                  <a:srgbClr val="00D4E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Гибридные подходы: комбинация правил и ML-скоринга, ансамбли моделей, учёт топологии сети и change management, Active Learning с обратной связью от инженеров. На практике именно гибридные системы дают лучший баланс точности и интерпретируемости.</a:t>
            </a:r>
            <a:endParaRPr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7" name="Google Shape;107;p8"/>
          <p:cNvCxnSpPr/>
          <p:nvPr/>
        </p:nvCxnSpPr>
        <p:spPr>
          <a:xfrm>
            <a:off x="320040" y="320040"/>
            <a:ext cx="201168" cy="0"/>
          </a:xfrm>
          <a:prstGeom prst="straightConnector1">
            <a:avLst/>
          </a:prstGeom>
          <a:noFill/>
          <a:ln cap="flat" cmpd="sng" w="15225">
            <a:solidFill>
              <a:srgbClr val="5A6A7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8" name="Google Shape;108;p8"/>
          <p:cNvCxnSpPr/>
          <p:nvPr/>
        </p:nvCxnSpPr>
        <p:spPr>
          <a:xfrm>
            <a:off x="320040" y="320040"/>
            <a:ext cx="0" cy="201168"/>
          </a:xfrm>
          <a:prstGeom prst="straightConnector1">
            <a:avLst/>
          </a:prstGeom>
          <a:noFill/>
          <a:ln cap="flat" cmpd="sng" w="15225">
            <a:solidFill>
              <a:srgbClr val="5A6A7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9" name="Google Shape;109;p8"/>
          <p:cNvCxnSpPr/>
          <p:nvPr/>
        </p:nvCxnSpPr>
        <p:spPr>
          <a:xfrm rot="10800000">
            <a:off x="11670487" y="320040"/>
            <a:ext cx="201168" cy="0"/>
          </a:xfrm>
          <a:prstGeom prst="straightConnector1">
            <a:avLst/>
          </a:prstGeom>
          <a:noFill/>
          <a:ln cap="flat" cmpd="sng" w="15225">
            <a:solidFill>
              <a:srgbClr val="5A6A7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0" name="Google Shape;110;p8"/>
          <p:cNvCxnSpPr/>
          <p:nvPr/>
        </p:nvCxnSpPr>
        <p:spPr>
          <a:xfrm>
            <a:off x="11871655" y="320040"/>
            <a:ext cx="0" cy="201168"/>
          </a:xfrm>
          <a:prstGeom prst="straightConnector1">
            <a:avLst/>
          </a:prstGeom>
          <a:noFill/>
          <a:ln cap="flat" cmpd="sng" w="15225">
            <a:solidFill>
              <a:srgbClr val="5A6A7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1" name="Google Shape;111;p8"/>
          <p:cNvCxnSpPr/>
          <p:nvPr/>
        </p:nvCxnSpPr>
        <p:spPr>
          <a:xfrm>
            <a:off x="320040" y="6537960"/>
            <a:ext cx="201168" cy="0"/>
          </a:xfrm>
          <a:prstGeom prst="straightConnector1">
            <a:avLst/>
          </a:prstGeom>
          <a:noFill/>
          <a:ln cap="flat" cmpd="sng" w="15225">
            <a:solidFill>
              <a:srgbClr val="5A6A7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2" name="Google Shape;112;p8"/>
          <p:cNvCxnSpPr/>
          <p:nvPr/>
        </p:nvCxnSpPr>
        <p:spPr>
          <a:xfrm rot="10800000">
            <a:off x="320040" y="6336792"/>
            <a:ext cx="0" cy="201168"/>
          </a:xfrm>
          <a:prstGeom prst="straightConnector1">
            <a:avLst/>
          </a:prstGeom>
          <a:noFill/>
          <a:ln cap="flat" cmpd="sng" w="15225">
            <a:solidFill>
              <a:srgbClr val="5A6A7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3" name="Google Shape;113;p8"/>
          <p:cNvCxnSpPr/>
          <p:nvPr/>
        </p:nvCxnSpPr>
        <p:spPr>
          <a:xfrm rot="10800000">
            <a:off x="11670487" y="6537960"/>
            <a:ext cx="201168" cy="0"/>
          </a:xfrm>
          <a:prstGeom prst="straightConnector1">
            <a:avLst/>
          </a:prstGeom>
          <a:noFill/>
          <a:ln cap="flat" cmpd="sng" w="15225">
            <a:solidFill>
              <a:srgbClr val="5A6A7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4" name="Google Shape;114;p8"/>
          <p:cNvCxnSpPr/>
          <p:nvPr/>
        </p:nvCxnSpPr>
        <p:spPr>
          <a:xfrm rot="10800000">
            <a:off x="11871655" y="6336792"/>
            <a:ext cx="0" cy="201168"/>
          </a:xfrm>
          <a:prstGeom prst="straightConnector1">
            <a:avLst/>
          </a:prstGeom>
          <a:noFill/>
          <a:ln cap="flat" cmpd="sng" w="15225">
            <a:solidFill>
              <a:srgbClr val="5A6A7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5" name="Google Shape;115;p8"/>
          <p:cNvSpPr/>
          <p:nvPr/>
        </p:nvSpPr>
        <p:spPr>
          <a:xfrm>
            <a:off x="10545775" y="6224995"/>
            <a:ext cx="1280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5A6A7A"/>
                </a:solidFill>
              </a:rPr>
              <a:t>06 / 10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8"/>
          <p:cNvSpPr/>
          <p:nvPr/>
        </p:nvSpPr>
        <p:spPr>
          <a:xfrm>
            <a:off x="731520" y="41148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F6FF"/>
              </a:buClr>
              <a:buSzPts val="2800"/>
              <a:buFont typeface="Arial"/>
              <a:buNone/>
            </a:pPr>
            <a:r>
              <a:rPr i="0" lang="en-US" sz="2800" u="none" cap="none" strike="noStrike">
                <a:solidFill>
                  <a:srgbClr val="E8F6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Технологический стек</a:t>
            </a:r>
            <a:endParaRPr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7" name="Google Shape;117;p8"/>
          <p:cNvSpPr/>
          <p:nvPr/>
        </p:nvSpPr>
        <p:spPr>
          <a:xfrm>
            <a:off x="822950" y="1143000"/>
            <a:ext cx="10515600" cy="7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E8"/>
              </a:buClr>
              <a:buSzPts val="1600"/>
              <a:buFont typeface="Arial"/>
              <a:buNone/>
            </a:pPr>
            <a:r>
              <a:rPr i="0" lang="en-US" sz="1600" u="none" cap="none" strike="noStrike">
                <a:solidFill>
                  <a:srgbClr val="00D4E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Сбор и транспортировка: Apache Kafka, Pulsar, Vector, Fluent Bit, Telegraf. Обеспечивают надёжный приём телеметрии от тысяч источников.</a:t>
            </a:r>
            <a:endParaRPr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8" name="Google Shape;118;p8"/>
          <p:cNvSpPr/>
          <p:nvPr/>
        </p:nvSpPr>
        <p:spPr>
          <a:xfrm>
            <a:off x="822950" y="1873800"/>
            <a:ext cx="10515600" cy="7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E8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D4E8"/>
                </a:solidFill>
                <a:latin typeface="Arial"/>
                <a:ea typeface="Arial"/>
                <a:cs typeface="Arial"/>
                <a:sym typeface="Arial"/>
              </a:rPr>
              <a:t>Потоковая обработка: Apache Flink, Spark Structured Streaming, Kafka Streams. Позволяют считать агрегаты и скорить модели с задержкой в секунды.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8"/>
          <p:cNvSpPr/>
          <p:nvPr/>
        </p:nvSpPr>
        <p:spPr>
          <a:xfrm>
            <a:off x="731525" y="2604600"/>
            <a:ext cx="10515600" cy="7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E8"/>
              </a:buClr>
              <a:buSzPts val="1600"/>
              <a:buFont typeface="Arial"/>
              <a:buNone/>
            </a:pPr>
            <a:r>
              <a:rPr i="0" lang="en-US" sz="1600" u="none" cap="none" strike="noStrike">
                <a:solidFill>
                  <a:srgbClr val="00D4E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Хранение и аналитика: ClickHouse, Druid, TimescaleDB, Elasticsearch / OpenSearch. Колоночные и time-series хранилища оптимизированы под быстрые запросы по большим </a:t>
            </a:r>
            <a:r>
              <a:rPr lang="en-US" sz="1600">
                <a:solidFill>
                  <a:srgbClr val="00D4E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объемам</a:t>
            </a:r>
            <a:r>
              <a:rPr i="0" lang="en-US" sz="1600" u="none" cap="none" strike="noStrike">
                <a:solidFill>
                  <a:srgbClr val="00D4E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0" name="Google Shape;120;p8"/>
          <p:cNvSpPr/>
          <p:nvPr/>
        </p:nvSpPr>
        <p:spPr>
          <a:xfrm>
            <a:off x="731525" y="3451500"/>
            <a:ext cx="10515600" cy="8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E8"/>
              </a:buClr>
              <a:buSzPts val="1600"/>
              <a:buFont typeface="Arial"/>
              <a:buNone/>
            </a:pPr>
            <a:r>
              <a:rPr i="0" lang="en-US" sz="1600" u="none" cap="none" strike="noStrike">
                <a:solidFill>
                  <a:srgbClr val="00D4E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ML и оркестрация: Spark MLlib, scikit-learn, PyTorch, TensorFlow, Ray; Kubernetes, Airflow, </a:t>
            </a:r>
            <a:r>
              <a:rPr i="0" lang="en-US" sz="1600" u="none" cap="none" strike="noStrike">
                <a:solidFill>
                  <a:srgbClr val="00D4E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Kubeflow</a:t>
            </a:r>
            <a:r>
              <a:rPr i="0" lang="en-US" sz="1600" u="none" cap="none" strike="noStrike">
                <a:solidFill>
                  <a:srgbClr val="00D4E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Для обучения, serving и управления жизненным циклом моделей.</a:t>
            </a:r>
            <a:endParaRPr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6" name="Google Shape;126;p9"/>
          <p:cNvCxnSpPr/>
          <p:nvPr/>
        </p:nvCxnSpPr>
        <p:spPr>
          <a:xfrm>
            <a:off x="320040" y="320040"/>
            <a:ext cx="201168" cy="0"/>
          </a:xfrm>
          <a:prstGeom prst="straightConnector1">
            <a:avLst/>
          </a:prstGeom>
          <a:noFill/>
          <a:ln cap="flat" cmpd="sng" w="15225">
            <a:solidFill>
              <a:srgbClr val="5A6A7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7" name="Google Shape;127;p9"/>
          <p:cNvCxnSpPr/>
          <p:nvPr/>
        </p:nvCxnSpPr>
        <p:spPr>
          <a:xfrm>
            <a:off x="320040" y="320040"/>
            <a:ext cx="0" cy="201168"/>
          </a:xfrm>
          <a:prstGeom prst="straightConnector1">
            <a:avLst/>
          </a:prstGeom>
          <a:noFill/>
          <a:ln cap="flat" cmpd="sng" w="15225">
            <a:solidFill>
              <a:srgbClr val="5A6A7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8" name="Google Shape;128;p9"/>
          <p:cNvCxnSpPr/>
          <p:nvPr/>
        </p:nvCxnSpPr>
        <p:spPr>
          <a:xfrm rot="10800000">
            <a:off x="11670487" y="320040"/>
            <a:ext cx="201168" cy="0"/>
          </a:xfrm>
          <a:prstGeom prst="straightConnector1">
            <a:avLst/>
          </a:prstGeom>
          <a:noFill/>
          <a:ln cap="flat" cmpd="sng" w="15225">
            <a:solidFill>
              <a:srgbClr val="5A6A7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9" name="Google Shape;129;p9"/>
          <p:cNvCxnSpPr/>
          <p:nvPr/>
        </p:nvCxnSpPr>
        <p:spPr>
          <a:xfrm>
            <a:off x="11871655" y="320040"/>
            <a:ext cx="0" cy="201168"/>
          </a:xfrm>
          <a:prstGeom prst="straightConnector1">
            <a:avLst/>
          </a:prstGeom>
          <a:noFill/>
          <a:ln cap="flat" cmpd="sng" w="15225">
            <a:solidFill>
              <a:srgbClr val="5A6A7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0" name="Google Shape;130;p9"/>
          <p:cNvCxnSpPr/>
          <p:nvPr/>
        </p:nvCxnSpPr>
        <p:spPr>
          <a:xfrm>
            <a:off x="320040" y="6537960"/>
            <a:ext cx="201168" cy="0"/>
          </a:xfrm>
          <a:prstGeom prst="straightConnector1">
            <a:avLst/>
          </a:prstGeom>
          <a:noFill/>
          <a:ln cap="flat" cmpd="sng" w="15225">
            <a:solidFill>
              <a:srgbClr val="5A6A7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1" name="Google Shape;131;p9"/>
          <p:cNvCxnSpPr/>
          <p:nvPr/>
        </p:nvCxnSpPr>
        <p:spPr>
          <a:xfrm rot="10800000">
            <a:off x="320040" y="6336792"/>
            <a:ext cx="0" cy="201168"/>
          </a:xfrm>
          <a:prstGeom prst="straightConnector1">
            <a:avLst/>
          </a:prstGeom>
          <a:noFill/>
          <a:ln cap="flat" cmpd="sng" w="15225">
            <a:solidFill>
              <a:srgbClr val="5A6A7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2" name="Google Shape;132;p9"/>
          <p:cNvCxnSpPr/>
          <p:nvPr/>
        </p:nvCxnSpPr>
        <p:spPr>
          <a:xfrm rot="10800000">
            <a:off x="11670487" y="6537960"/>
            <a:ext cx="201168" cy="0"/>
          </a:xfrm>
          <a:prstGeom prst="straightConnector1">
            <a:avLst/>
          </a:prstGeom>
          <a:noFill/>
          <a:ln cap="flat" cmpd="sng" w="15225">
            <a:solidFill>
              <a:srgbClr val="5A6A7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3" name="Google Shape;133;p9"/>
          <p:cNvCxnSpPr/>
          <p:nvPr/>
        </p:nvCxnSpPr>
        <p:spPr>
          <a:xfrm rot="10800000">
            <a:off x="11871655" y="6336792"/>
            <a:ext cx="0" cy="201168"/>
          </a:xfrm>
          <a:prstGeom prst="straightConnector1">
            <a:avLst/>
          </a:prstGeom>
          <a:noFill/>
          <a:ln cap="flat" cmpd="sng" w="15225">
            <a:solidFill>
              <a:srgbClr val="5A6A7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4" name="Google Shape;134;p9"/>
          <p:cNvSpPr/>
          <p:nvPr/>
        </p:nvSpPr>
        <p:spPr>
          <a:xfrm>
            <a:off x="10536125" y="6263745"/>
            <a:ext cx="1280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5A6A7A"/>
                </a:solidFill>
              </a:rPr>
              <a:t>07 / </a:t>
            </a:r>
            <a:r>
              <a:rPr lang="en-US" sz="1100">
                <a:solidFill>
                  <a:srgbClr val="5A6A7A"/>
                </a:solidFill>
              </a:rPr>
              <a:t>1</a:t>
            </a:r>
            <a:r>
              <a:rPr lang="en-US" sz="1100">
                <a:solidFill>
                  <a:srgbClr val="5A6A7A"/>
                </a:solidFill>
              </a:rPr>
              <a:t>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9"/>
          <p:cNvSpPr/>
          <p:nvPr/>
        </p:nvSpPr>
        <p:spPr>
          <a:xfrm>
            <a:off x="731520" y="41148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F6FF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E8F6FF"/>
                </a:solidFill>
                <a:latin typeface="Arial"/>
                <a:ea typeface="Arial"/>
                <a:cs typeface="Arial"/>
                <a:sym typeface="Arial"/>
              </a:rPr>
              <a:t>Типовой pipeline детекции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9"/>
          <p:cNvSpPr/>
          <p:nvPr/>
        </p:nvSpPr>
        <p:spPr>
          <a:xfrm>
            <a:off x="822950" y="1143000"/>
            <a:ext cx="10515600" cy="7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E8"/>
              </a:buClr>
              <a:buSzPts val="1600"/>
              <a:buFont typeface="Arial"/>
              <a:buNone/>
            </a:pPr>
            <a:r>
              <a:rPr i="0" lang="en-US" sz="1600" u="none" cap="none" strike="noStrike">
                <a:solidFill>
                  <a:srgbClr val="00D4E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Нормализация и обогащение. Приведение логов и flow к единой схеме, добавление GeoIP, ASN, inventory и других контекстных полей.</a:t>
            </a:r>
            <a:endParaRPr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7" name="Google Shape;137;p9"/>
          <p:cNvSpPr/>
          <p:nvPr/>
        </p:nvSpPr>
        <p:spPr>
          <a:xfrm>
            <a:off x="838038" y="1864500"/>
            <a:ext cx="10515600" cy="7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E8"/>
              </a:buClr>
              <a:buSzPts val="1600"/>
              <a:buFont typeface="Arial"/>
              <a:buNone/>
            </a:pPr>
            <a:r>
              <a:rPr i="0" lang="en-US" sz="1600" u="none" cap="none" strike="noStrike">
                <a:solidFill>
                  <a:srgbClr val="00D4E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Feature Store. Агрегаты по времени и сущности (хост, IP, сервис), rolling-статистики, эмбеддинги. Признаки используются и онлайн, и при переобучении.</a:t>
            </a:r>
            <a:endParaRPr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8" name="Google Shape;138;p9"/>
          <p:cNvSpPr/>
          <p:nvPr/>
        </p:nvSpPr>
        <p:spPr>
          <a:xfrm>
            <a:off x="838050" y="2586000"/>
            <a:ext cx="10515600" cy="7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E8"/>
              </a:buClr>
              <a:buSzPts val="1600"/>
              <a:buFont typeface="Arial"/>
              <a:buNone/>
            </a:pPr>
            <a:r>
              <a:rPr i="0" lang="en-US" sz="1600" u="none" cap="none" strike="noStrike">
                <a:solidFill>
                  <a:srgbClr val="00D4E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Модели и алертинг. Онлайн-скоринг + периодический retrain. Корреляция событий, подавление дублей, маршрутизация в NOC/SOC. A/B и shadow mode для новых моделей.</a:t>
            </a:r>
            <a:endParaRPr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9" name="Google Shape;139;p9"/>
          <p:cNvSpPr/>
          <p:nvPr/>
        </p:nvSpPr>
        <p:spPr>
          <a:xfrm>
            <a:off x="822950" y="3383225"/>
            <a:ext cx="10515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E8"/>
              </a:buClr>
              <a:buSzPts val="1600"/>
              <a:buFont typeface="Arial"/>
              <a:buNone/>
            </a:pPr>
            <a:r>
              <a:rPr i="0" lang="en-US" sz="1600" u="none" cap="none" strike="noStrike">
                <a:solidFill>
                  <a:srgbClr val="00D4E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Обратная связь. Labeling от инженеров (false / true positive) → улучшение датасета и снижение количества ложных срабатываний. Без feedback loop качество быстро деградирует.</a:t>
            </a:r>
            <a:endParaRPr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5" name="Google Shape;145;p10"/>
          <p:cNvCxnSpPr/>
          <p:nvPr/>
        </p:nvCxnSpPr>
        <p:spPr>
          <a:xfrm>
            <a:off x="320040" y="320040"/>
            <a:ext cx="201168" cy="0"/>
          </a:xfrm>
          <a:prstGeom prst="straightConnector1">
            <a:avLst/>
          </a:prstGeom>
          <a:noFill/>
          <a:ln cap="flat" cmpd="sng" w="15225">
            <a:solidFill>
              <a:srgbClr val="5A6A7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6" name="Google Shape;146;p10"/>
          <p:cNvCxnSpPr/>
          <p:nvPr/>
        </p:nvCxnSpPr>
        <p:spPr>
          <a:xfrm>
            <a:off x="320040" y="320040"/>
            <a:ext cx="0" cy="201168"/>
          </a:xfrm>
          <a:prstGeom prst="straightConnector1">
            <a:avLst/>
          </a:prstGeom>
          <a:noFill/>
          <a:ln cap="flat" cmpd="sng" w="15225">
            <a:solidFill>
              <a:srgbClr val="5A6A7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7" name="Google Shape;147;p10"/>
          <p:cNvCxnSpPr/>
          <p:nvPr/>
        </p:nvCxnSpPr>
        <p:spPr>
          <a:xfrm rot="10800000">
            <a:off x="11670487" y="320040"/>
            <a:ext cx="201168" cy="0"/>
          </a:xfrm>
          <a:prstGeom prst="straightConnector1">
            <a:avLst/>
          </a:prstGeom>
          <a:noFill/>
          <a:ln cap="flat" cmpd="sng" w="15225">
            <a:solidFill>
              <a:srgbClr val="5A6A7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8" name="Google Shape;148;p10"/>
          <p:cNvCxnSpPr/>
          <p:nvPr/>
        </p:nvCxnSpPr>
        <p:spPr>
          <a:xfrm>
            <a:off x="11871655" y="320040"/>
            <a:ext cx="0" cy="201168"/>
          </a:xfrm>
          <a:prstGeom prst="straightConnector1">
            <a:avLst/>
          </a:prstGeom>
          <a:noFill/>
          <a:ln cap="flat" cmpd="sng" w="15225">
            <a:solidFill>
              <a:srgbClr val="5A6A7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9" name="Google Shape;149;p10"/>
          <p:cNvCxnSpPr/>
          <p:nvPr/>
        </p:nvCxnSpPr>
        <p:spPr>
          <a:xfrm>
            <a:off x="320040" y="6537960"/>
            <a:ext cx="201168" cy="0"/>
          </a:xfrm>
          <a:prstGeom prst="straightConnector1">
            <a:avLst/>
          </a:prstGeom>
          <a:noFill/>
          <a:ln cap="flat" cmpd="sng" w="15225">
            <a:solidFill>
              <a:srgbClr val="5A6A7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0" name="Google Shape;150;p10"/>
          <p:cNvCxnSpPr/>
          <p:nvPr/>
        </p:nvCxnSpPr>
        <p:spPr>
          <a:xfrm rot="10800000">
            <a:off x="320040" y="6336792"/>
            <a:ext cx="0" cy="201168"/>
          </a:xfrm>
          <a:prstGeom prst="straightConnector1">
            <a:avLst/>
          </a:prstGeom>
          <a:noFill/>
          <a:ln cap="flat" cmpd="sng" w="15225">
            <a:solidFill>
              <a:srgbClr val="5A6A7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1" name="Google Shape;151;p10"/>
          <p:cNvCxnSpPr/>
          <p:nvPr/>
        </p:nvCxnSpPr>
        <p:spPr>
          <a:xfrm rot="10800000">
            <a:off x="11670487" y="6537960"/>
            <a:ext cx="201168" cy="0"/>
          </a:xfrm>
          <a:prstGeom prst="straightConnector1">
            <a:avLst/>
          </a:prstGeom>
          <a:noFill/>
          <a:ln cap="flat" cmpd="sng" w="15225">
            <a:solidFill>
              <a:srgbClr val="5A6A7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2" name="Google Shape;152;p10"/>
          <p:cNvCxnSpPr/>
          <p:nvPr/>
        </p:nvCxnSpPr>
        <p:spPr>
          <a:xfrm rot="10800000">
            <a:off x="11871655" y="6336792"/>
            <a:ext cx="0" cy="201168"/>
          </a:xfrm>
          <a:prstGeom prst="straightConnector1">
            <a:avLst/>
          </a:prstGeom>
          <a:noFill/>
          <a:ln cap="flat" cmpd="sng" w="15225">
            <a:solidFill>
              <a:srgbClr val="5A6A7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3" name="Google Shape;153;p10"/>
          <p:cNvSpPr/>
          <p:nvPr/>
        </p:nvSpPr>
        <p:spPr>
          <a:xfrm>
            <a:off x="10591550" y="6263745"/>
            <a:ext cx="1280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5A6A7A"/>
                </a:solidFill>
              </a:rPr>
              <a:t>08 / 10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0"/>
          <p:cNvSpPr/>
          <p:nvPr/>
        </p:nvSpPr>
        <p:spPr>
          <a:xfrm>
            <a:off x="731520" y="41148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F6FF"/>
              </a:buClr>
              <a:buSzPts val="2800"/>
              <a:buFont typeface="Arial"/>
              <a:buNone/>
            </a:pPr>
            <a:r>
              <a:rPr i="0" lang="en-US" sz="2800" u="none" cap="none" strike="noStrike">
                <a:solidFill>
                  <a:srgbClr val="E8F6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Сценарии применения</a:t>
            </a:r>
            <a:endParaRPr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5" name="Google Shape;155;p10"/>
          <p:cNvSpPr/>
          <p:nvPr/>
        </p:nvSpPr>
        <p:spPr>
          <a:xfrm>
            <a:off x="822950" y="1143000"/>
            <a:ext cx="10515600" cy="6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E8"/>
              </a:buClr>
              <a:buSzPts val="1600"/>
              <a:buFont typeface="Arial"/>
              <a:buNone/>
            </a:pPr>
            <a:r>
              <a:rPr i="0" lang="en-US" sz="1600" u="none" cap="none" strike="noStrike">
                <a:solidFill>
                  <a:srgbClr val="00D4E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Безопасность. Раннее обнаружение DDoS, сканирований, ботнетов и аномального поведения до того, как сеть будет перегружена или скомпрометирована.</a:t>
            </a:r>
            <a:endParaRPr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6" name="Google Shape;156;p10"/>
          <p:cNvSpPr/>
          <p:nvPr/>
        </p:nvSpPr>
        <p:spPr>
          <a:xfrm>
            <a:off x="838038" y="1964275"/>
            <a:ext cx="105156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E8"/>
              </a:buClr>
              <a:buSzPts val="1600"/>
              <a:buFont typeface="Arial"/>
              <a:buNone/>
            </a:pPr>
            <a:r>
              <a:rPr i="0" lang="en-US" sz="1600" u="none" cap="none" strike="noStrike">
                <a:solidFill>
                  <a:srgbClr val="00D4E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Производительность. Выявление «тихих» сбоев: рост latency, packet loss, error rate — ситуаций, которые не пересекают статические пороги, но уже влияют на пользователей.</a:t>
            </a:r>
            <a:endParaRPr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7" name="Google Shape;157;p10"/>
          <p:cNvSpPr/>
          <p:nvPr/>
        </p:nvSpPr>
        <p:spPr>
          <a:xfrm>
            <a:off x="822950" y="2810944"/>
            <a:ext cx="10515600" cy="7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E8"/>
              </a:buClr>
              <a:buSzPts val="1600"/>
              <a:buFont typeface="Arial"/>
              <a:buNone/>
            </a:pPr>
            <a:r>
              <a:rPr i="0" lang="en-US" sz="1600" u="none" cap="none" strike="noStrike">
                <a:solidFill>
                  <a:srgbClr val="00D4E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Ёмкость и планирование. Прогноз нагрузки, поиск </a:t>
            </a:r>
            <a:r>
              <a:rPr lang="en-US" sz="1600">
                <a:solidFill>
                  <a:srgbClr val="00D4E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hotspots</a:t>
            </a:r>
            <a:r>
              <a:rPr i="0" lang="en-US" sz="1600" u="none" cap="none" strike="noStrike">
                <a:solidFill>
                  <a:srgbClr val="00D4E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и аномального роста потребления ресурсов. Помогает заранее масштабировать инфраструктуру.</a:t>
            </a:r>
            <a:endParaRPr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8" name="Google Shape;158;p10"/>
          <p:cNvSpPr/>
          <p:nvPr/>
        </p:nvSpPr>
        <p:spPr>
          <a:xfrm>
            <a:off x="731525" y="3619825"/>
            <a:ext cx="105156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E8"/>
              </a:buClr>
              <a:buSzPts val="1600"/>
              <a:buFont typeface="Arial"/>
              <a:buNone/>
            </a:pPr>
            <a:r>
              <a:rPr i="0" lang="en-US" sz="1600" u="none" cap="none" strike="noStrike">
                <a:solidFill>
                  <a:srgbClr val="00D4E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Расследование и compliance. Быстрый поиск отклонений в поведении и построение audit trail по терабайтам логов при инцидентах и проверках.</a:t>
            </a:r>
            <a:endParaRPr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4" name="Google Shape;164;p11"/>
          <p:cNvCxnSpPr/>
          <p:nvPr/>
        </p:nvCxnSpPr>
        <p:spPr>
          <a:xfrm>
            <a:off x="320040" y="320040"/>
            <a:ext cx="201168" cy="0"/>
          </a:xfrm>
          <a:prstGeom prst="straightConnector1">
            <a:avLst/>
          </a:prstGeom>
          <a:noFill/>
          <a:ln cap="flat" cmpd="sng" w="15225">
            <a:solidFill>
              <a:srgbClr val="5A6A7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5" name="Google Shape;165;p11"/>
          <p:cNvCxnSpPr/>
          <p:nvPr/>
        </p:nvCxnSpPr>
        <p:spPr>
          <a:xfrm>
            <a:off x="320040" y="320040"/>
            <a:ext cx="0" cy="201168"/>
          </a:xfrm>
          <a:prstGeom prst="straightConnector1">
            <a:avLst/>
          </a:prstGeom>
          <a:noFill/>
          <a:ln cap="flat" cmpd="sng" w="15225">
            <a:solidFill>
              <a:srgbClr val="5A6A7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6" name="Google Shape;166;p11"/>
          <p:cNvCxnSpPr/>
          <p:nvPr/>
        </p:nvCxnSpPr>
        <p:spPr>
          <a:xfrm rot="10800000">
            <a:off x="11670487" y="320040"/>
            <a:ext cx="201168" cy="0"/>
          </a:xfrm>
          <a:prstGeom prst="straightConnector1">
            <a:avLst/>
          </a:prstGeom>
          <a:noFill/>
          <a:ln cap="flat" cmpd="sng" w="15225">
            <a:solidFill>
              <a:srgbClr val="5A6A7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7" name="Google Shape;167;p11"/>
          <p:cNvCxnSpPr/>
          <p:nvPr/>
        </p:nvCxnSpPr>
        <p:spPr>
          <a:xfrm>
            <a:off x="11871655" y="320040"/>
            <a:ext cx="0" cy="201168"/>
          </a:xfrm>
          <a:prstGeom prst="straightConnector1">
            <a:avLst/>
          </a:prstGeom>
          <a:noFill/>
          <a:ln cap="flat" cmpd="sng" w="15225">
            <a:solidFill>
              <a:srgbClr val="5A6A7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8" name="Google Shape;168;p11"/>
          <p:cNvCxnSpPr/>
          <p:nvPr/>
        </p:nvCxnSpPr>
        <p:spPr>
          <a:xfrm>
            <a:off x="320040" y="6537960"/>
            <a:ext cx="201168" cy="0"/>
          </a:xfrm>
          <a:prstGeom prst="straightConnector1">
            <a:avLst/>
          </a:prstGeom>
          <a:noFill/>
          <a:ln cap="flat" cmpd="sng" w="15225">
            <a:solidFill>
              <a:srgbClr val="5A6A7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9" name="Google Shape;169;p11"/>
          <p:cNvCxnSpPr/>
          <p:nvPr/>
        </p:nvCxnSpPr>
        <p:spPr>
          <a:xfrm rot="10800000">
            <a:off x="320040" y="6336792"/>
            <a:ext cx="0" cy="201168"/>
          </a:xfrm>
          <a:prstGeom prst="straightConnector1">
            <a:avLst/>
          </a:prstGeom>
          <a:noFill/>
          <a:ln cap="flat" cmpd="sng" w="15225">
            <a:solidFill>
              <a:srgbClr val="5A6A7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0" name="Google Shape;170;p11"/>
          <p:cNvCxnSpPr/>
          <p:nvPr/>
        </p:nvCxnSpPr>
        <p:spPr>
          <a:xfrm rot="10800000">
            <a:off x="11670487" y="6537960"/>
            <a:ext cx="201168" cy="0"/>
          </a:xfrm>
          <a:prstGeom prst="straightConnector1">
            <a:avLst/>
          </a:prstGeom>
          <a:noFill/>
          <a:ln cap="flat" cmpd="sng" w="15225">
            <a:solidFill>
              <a:srgbClr val="5A6A7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1" name="Google Shape;171;p11"/>
          <p:cNvCxnSpPr/>
          <p:nvPr/>
        </p:nvCxnSpPr>
        <p:spPr>
          <a:xfrm rot="10800000">
            <a:off x="11871655" y="6336792"/>
            <a:ext cx="0" cy="201168"/>
          </a:xfrm>
          <a:prstGeom prst="straightConnector1">
            <a:avLst/>
          </a:prstGeom>
          <a:noFill/>
          <a:ln cap="flat" cmpd="sng" w="15225">
            <a:solidFill>
              <a:srgbClr val="5A6A7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2" name="Google Shape;172;p11"/>
          <p:cNvSpPr/>
          <p:nvPr/>
        </p:nvSpPr>
        <p:spPr>
          <a:xfrm>
            <a:off x="10536550" y="6263620"/>
            <a:ext cx="1280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5A6A7A"/>
                </a:solidFill>
              </a:rPr>
              <a:t>09 / 10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1"/>
          <p:cNvSpPr/>
          <p:nvPr/>
        </p:nvSpPr>
        <p:spPr>
          <a:xfrm>
            <a:off x="731520" y="41148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F6FF"/>
              </a:buClr>
              <a:buSzPts val="2800"/>
              <a:buFont typeface="Arial"/>
              <a:buNone/>
            </a:pPr>
            <a:r>
              <a:rPr i="0" lang="en-US" sz="2800" u="none" cap="none" strike="noStrike">
                <a:solidFill>
                  <a:srgbClr val="E8F6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Выводы</a:t>
            </a:r>
            <a:endParaRPr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4" name="Google Shape;174;p11"/>
          <p:cNvSpPr/>
          <p:nvPr/>
        </p:nvSpPr>
        <p:spPr>
          <a:xfrm>
            <a:off x="822950" y="1143000"/>
            <a:ext cx="10515600" cy="6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E8"/>
              </a:buClr>
              <a:buSzPts val="1600"/>
              <a:buFont typeface="Arial"/>
              <a:buNone/>
            </a:pPr>
            <a:r>
              <a:rPr i="0" lang="en-US" sz="1600" u="none" cap="none" strike="noStrike">
                <a:solidFill>
                  <a:srgbClr val="00D4E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Большие данные в мониторинге сетей — это не просто «больше логов». Это переход от реактивного подхода (сработал порог) к проактивному обнаружению отклонений на основе поведения системы.</a:t>
            </a:r>
            <a:endParaRPr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5" name="Google Shape;175;p11"/>
          <p:cNvSpPr/>
          <p:nvPr/>
        </p:nvSpPr>
        <p:spPr>
          <a:xfrm>
            <a:off x="838038" y="1960800"/>
            <a:ext cx="10515600" cy="7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E8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D4E8"/>
                </a:solidFill>
                <a:latin typeface="Arial"/>
                <a:ea typeface="Arial"/>
                <a:cs typeface="Arial"/>
                <a:sym typeface="Arial"/>
              </a:rPr>
              <a:t>Успех зависит не только от выбора алгоритмов, но и от качественного pipeline, учёта контекста, обратной связи от инженеров и правильных метрик эффективности (MTTD, MTTR, false positive rate).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1"/>
          <p:cNvSpPr/>
          <p:nvPr/>
        </p:nvSpPr>
        <p:spPr>
          <a:xfrm>
            <a:off x="838050" y="2803500"/>
            <a:ext cx="105156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E8"/>
              </a:buClr>
              <a:buSzPts val="1600"/>
              <a:buFont typeface="Arial"/>
              <a:buNone/>
            </a:pPr>
            <a:r>
              <a:rPr i="0" lang="en-US" sz="1600" u="none" cap="none" strike="noStrike">
                <a:solidFill>
                  <a:srgbClr val="00D4E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Ключевые принципы: начинать с бизнес-метрик, разделять stream и batch, всегда учитывать контекст сети, строить feedback loop и мониторить саму платформу аналитики.</a:t>
            </a:r>
            <a:endParaRPr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7" name="Google Shape;177;p11"/>
          <p:cNvSpPr/>
          <p:nvPr/>
        </p:nvSpPr>
        <p:spPr>
          <a:xfrm>
            <a:off x="838050" y="3627300"/>
            <a:ext cx="10515600" cy="7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E8"/>
              </a:buClr>
              <a:buSzPts val="1600"/>
              <a:buFont typeface="Arial"/>
              <a:buNone/>
            </a:pPr>
            <a:r>
              <a:rPr i="0" lang="en-US" sz="1600" u="none" cap="none" strike="noStrike">
                <a:solidFill>
                  <a:srgbClr val="00D4E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При правильной реализации такой подход повышает скорость обнаружения инцидентов, снижает количество ложных тревог и даёт более полную картину состояния инфраструктуры.</a:t>
            </a:r>
            <a:endParaRPr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3" name="Google Shape;183;p12"/>
          <p:cNvCxnSpPr/>
          <p:nvPr/>
        </p:nvCxnSpPr>
        <p:spPr>
          <a:xfrm>
            <a:off x="320040" y="320040"/>
            <a:ext cx="201168" cy="0"/>
          </a:xfrm>
          <a:prstGeom prst="straightConnector1">
            <a:avLst/>
          </a:prstGeom>
          <a:noFill/>
          <a:ln cap="flat" cmpd="sng" w="15225">
            <a:solidFill>
              <a:srgbClr val="5A6A7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4" name="Google Shape;184;p12"/>
          <p:cNvCxnSpPr/>
          <p:nvPr/>
        </p:nvCxnSpPr>
        <p:spPr>
          <a:xfrm>
            <a:off x="320040" y="320040"/>
            <a:ext cx="0" cy="201168"/>
          </a:xfrm>
          <a:prstGeom prst="straightConnector1">
            <a:avLst/>
          </a:prstGeom>
          <a:noFill/>
          <a:ln cap="flat" cmpd="sng" w="15225">
            <a:solidFill>
              <a:srgbClr val="5A6A7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5" name="Google Shape;185;p12"/>
          <p:cNvCxnSpPr/>
          <p:nvPr/>
        </p:nvCxnSpPr>
        <p:spPr>
          <a:xfrm rot="10800000">
            <a:off x="11670487" y="320040"/>
            <a:ext cx="201168" cy="0"/>
          </a:xfrm>
          <a:prstGeom prst="straightConnector1">
            <a:avLst/>
          </a:prstGeom>
          <a:noFill/>
          <a:ln cap="flat" cmpd="sng" w="15225">
            <a:solidFill>
              <a:srgbClr val="5A6A7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6" name="Google Shape;186;p12"/>
          <p:cNvCxnSpPr/>
          <p:nvPr/>
        </p:nvCxnSpPr>
        <p:spPr>
          <a:xfrm>
            <a:off x="11871655" y="320040"/>
            <a:ext cx="0" cy="201168"/>
          </a:xfrm>
          <a:prstGeom prst="straightConnector1">
            <a:avLst/>
          </a:prstGeom>
          <a:noFill/>
          <a:ln cap="flat" cmpd="sng" w="15225">
            <a:solidFill>
              <a:srgbClr val="5A6A7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7" name="Google Shape;187;p12"/>
          <p:cNvCxnSpPr/>
          <p:nvPr/>
        </p:nvCxnSpPr>
        <p:spPr>
          <a:xfrm>
            <a:off x="320040" y="6537960"/>
            <a:ext cx="201168" cy="0"/>
          </a:xfrm>
          <a:prstGeom prst="straightConnector1">
            <a:avLst/>
          </a:prstGeom>
          <a:noFill/>
          <a:ln cap="flat" cmpd="sng" w="15225">
            <a:solidFill>
              <a:srgbClr val="5A6A7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8" name="Google Shape;188;p12"/>
          <p:cNvCxnSpPr/>
          <p:nvPr/>
        </p:nvCxnSpPr>
        <p:spPr>
          <a:xfrm rot="10800000">
            <a:off x="320040" y="6336792"/>
            <a:ext cx="0" cy="201168"/>
          </a:xfrm>
          <a:prstGeom prst="straightConnector1">
            <a:avLst/>
          </a:prstGeom>
          <a:noFill/>
          <a:ln cap="flat" cmpd="sng" w="15225">
            <a:solidFill>
              <a:srgbClr val="5A6A7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9" name="Google Shape;189;p12"/>
          <p:cNvCxnSpPr/>
          <p:nvPr/>
        </p:nvCxnSpPr>
        <p:spPr>
          <a:xfrm rot="10800000">
            <a:off x="11670487" y="6537960"/>
            <a:ext cx="201168" cy="0"/>
          </a:xfrm>
          <a:prstGeom prst="straightConnector1">
            <a:avLst/>
          </a:prstGeom>
          <a:noFill/>
          <a:ln cap="flat" cmpd="sng" w="15225">
            <a:solidFill>
              <a:srgbClr val="5A6A7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0" name="Google Shape;190;p12"/>
          <p:cNvCxnSpPr/>
          <p:nvPr/>
        </p:nvCxnSpPr>
        <p:spPr>
          <a:xfrm rot="10800000">
            <a:off x="11871655" y="6336792"/>
            <a:ext cx="0" cy="201168"/>
          </a:xfrm>
          <a:prstGeom prst="straightConnector1">
            <a:avLst/>
          </a:prstGeom>
          <a:noFill/>
          <a:ln cap="flat" cmpd="sng" w="15225">
            <a:solidFill>
              <a:srgbClr val="5A6A7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1" name="Google Shape;191;p12"/>
          <p:cNvSpPr/>
          <p:nvPr/>
        </p:nvSpPr>
        <p:spPr>
          <a:xfrm>
            <a:off x="10545775" y="6263620"/>
            <a:ext cx="1280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5A6A7A"/>
                </a:solidFill>
              </a:rPr>
              <a:t>10 / 10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2"/>
          <p:cNvSpPr/>
          <p:nvPr/>
        </p:nvSpPr>
        <p:spPr>
          <a:xfrm>
            <a:off x="731520" y="41148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F6FF"/>
              </a:buClr>
              <a:buSzPts val="2800"/>
              <a:buFont typeface="Arial"/>
              <a:buNone/>
            </a:pPr>
            <a:r>
              <a:rPr i="0" lang="en-US" sz="2800" u="none" cap="none" strike="noStrike">
                <a:solidFill>
                  <a:srgbClr val="E8F6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Список литературы</a:t>
            </a:r>
            <a:endParaRPr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3" name="Google Shape;193;p12"/>
          <p:cNvSpPr/>
          <p:nvPr/>
        </p:nvSpPr>
        <p:spPr>
          <a:xfrm>
            <a:off x="822960" y="1051560"/>
            <a:ext cx="105156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E8"/>
              </a:buClr>
              <a:buSzPts val="1300"/>
              <a:buFont typeface="Arial"/>
              <a:buNone/>
            </a:pPr>
            <a:r>
              <a:rPr i="0" lang="en-US" sz="1300" u="none" cap="none" strike="noStrike">
                <a:solidFill>
                  <a:srgbClr val="00D4E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Chandola V., Banerjee A., Kumar V. Anomaly Detection: A Survey. ACM Computing Surveys, 2009.  https://doi.org/10.1145/1541880.1541882</a:t>
            </a:r>
            <a:endParaRPr i="0" sz="1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4" name="Google Shape;194;p12"/>
          <p:cNvSpPr/>
          <p:nvPr/>
        </p:nvSpPr>
        <p:spPr>
          <a:xfrm>
            <a:off x="822960" y="1554480"/>
            <a:ext cx="105156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E8"/>
              </a:buClr>
              <a:buSzPts val="1300"/>
              <a:buFont typeface="Arial"/>
              <a:buNone/>
            </a:pPr>
            <a:r>
              <a:rPr i="0" lang="en-US" sz="1300" u="none" cap="none" strike="noStrike">
                <a:solidFill>
                  <a:srgbClr val="00D4E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Ahmed M., Mahmood A.N., Hu J. A survey of network anomaly detection techniques. Journal of Network and Computer Applications, 2016.  https://doi.org/10.1016/j.jnca.2015.11.016</a:t>
            </a:r>
            <a:endParaRPr i="0" sz="1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5" name="Google Shape;195;p12"/>
          <p:cNvSpPr/>
          <p:nvPr/>
        </p:nvSpPr>
        <p:spPr>
          <a:xfrm>
            <a:off x="822960" y="2057400"/>
            <a:ext cx="105156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E8"/>
              </a:buClr>
              <a:buSzPts val="1300"/>
              <a:buFont typeface="Arial"/>
              <a:buNone/>
            </a:pPr>
            <a:r>
              <a:rPr i="0" lang="en-US" sz="1300" u="none" cap="none" strike="noStrike">
                <a:solidFill>
                  <a:srgbClr val="00D4E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Buczak A.L., Guven E. A Survey of Data Mining and Machine Learning Methods for Cyber Security Intrusion Detection. IEEE Communications Surveys &amp; Tutorials, 2016.  https://doi.org/10.1109/COMST.2015.2494502</a:t>
            </a:r>
            <a:endParaRPr i="0" sz="1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6" name="Google Shape;196;p12"/>
          <p:cNvSpPr/>
          <p:nvPr/>
        </p:nvSpPr>
        <p:spPr>
          <a:xfrm>
            <a:off x="822960" y="2560320"/>
            <a:ext cx="105156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E8"/>
              </a:buClr>
              <a:buSzPts val="1300"/>
              <a:buFont typeface="Arial"/>
              <a:buNone/>
            </a:pPr>
            <a:r>
              <a:rPr i="0" lang="en-US" sz="1300" u="none" cap="none" strike="noStrike">
                <a:solidFill>
                  <a:srgbClr val="00D4E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 Apache Kafka Documentation.  https://kafka.apache.org/documentation/</a:t>
            </a:r>
            <a:endParaRPr i="0" sz="1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7" name="Google Shape;197;p12"/>
          <p:cNvSpPr/>
          <p:nvPr/>
        </p:nvSpPr>
        <p:spPr>
          <a:xfrm>
            <a:off x="822960" y="3063240"/>
            <a:ext cx="105156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E8"/>
              </a:buClr>
              <a:buSzPts val="1300"/>
              <a:buFont typeface="Arial"/>
              <a:buNone/>
            </a:pPr>
            <a:r>
              <a:rPr i="0" lang="en-US" sz="1300" u="none" cap="none" strike="noStrike">
                <a:solidFill>
                  <a:srgbClr val="00D4E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5. Apache Flink Documentation.  https://nightlies.apache.org/flink/flink-docs-stable/</a:t>
            </a:r>
            <a:endParaRPr i="0" sz="1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8" name="Google Shape;198;p12"/>
          <p:cNvSpPr/>
          <p:nvPr/>
        </p:nvSpPr>
        <p:spPr>
          <a:xfrm>
            <a:off x="822960" y="3566160"/>
            <a:ext cx="105156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E8"/>
              </a:buClr>
              <a:buSzPts val="1300"/>
              <a:buFont typeface="Arial"/>
              <a:buNone/>
            </a:pPr>
            <a:r>
              <a:rPr i="0" lang="en-US" sz="1300" u="none" cap="none" strike="noStrike">
                <a:solidFill>
                  <a:srgbClr val="00D4E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6. Apache Spark Documentation.  https://spark.apache.org/docs/latest/</a:t>
            </a:r>
            <a:endParaRPr i="0" sz="1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9" name="Google Shape;199;p12"/>
          <p:cNvSpPr/>
          <p:nvPr/>
        </p:nvSpPr>
        <p:spPr>
          <a:xfrm>
            <a:off x="822960" y="4069080"/>
            <a:ext cx="105156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E8"/>
              </a:buClr>
              <a:buSzPts val="1300"/>
              <a:buFont typeface="Arial"/>
              <a:buNone/>
            </a:pPr>
            <a:r>
              <a:rPr i="0" lang="en-US" sz="1300" u="none" cap="none" strike="noStrike">
                <a:solidFill>
                  <a:srgbClr val="00D4E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7. ClickHouse Documentation — Observability.  https://clickhouse.com/docs</a:t>
            </a:r>
            <a:endParaRPr i="0" sz="1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0" name="Google Shape;200;p12"/>
          <p:cNvSpPr/>
          <p:nvPr/>
        </p:nvSpPr>
        <p:spPr>
          <a:xfrm>
            <a:off x="822960" y="4572000"/>
            <a:ext cx="105156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E8"/>
              </a:buClr>
              <a:buSzPts val="1300"/>
              <a:buFont typeface="Arial"/>
              <a:buNone/>
            </a:pPr>
            <a:r>
              <a:rPr i="0" lang="en-US" sz="1300" u="none" cap="none" strike="noStrike">
                <a:solidFill>
                  <a:srgbClr val="00D4E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8. OpenTelemetry Specification.  https://opentelemetry.io/docs/specs/</a:t>
            </a:r>
            <a:endParaRPr i="0" sz="1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1" name="Google Shape;201;p12"/>
          <p:cNvSpPr/>
          <p:nvPr/>
        </p:nvSpPr>
        <p:spPr>
          <a:xfrm>
            <a:off x="822960" y="5074920"/>
            <a:ext cx="105156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E8"/>
              </a:buClr>
              <a:buSzPts val="1300"/>
              <a:buFont typeface="Arial"/>
              <a:buNone/>
            </a:pPr>
            <a:r>
              <a:rPr i="0" lang="en-US" sz="1300" u="none" cap="none" strike="noStrike">
                <a:solidFill>
                  <a:srgbClr val="00D4E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9. NIST SP 800-61 Rev. 2 — Computer Security Incident Handling Guide.  https://csrc.nist.gov/publications/detail/sp/800-61/rev-2/final</a:t>
            </a:r>
            <a:endParaRPr i="0" sz="1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2" name="Google Shape;202;p12"/>
          <p:cNvSpPr/>
          <p:nvPr/>
        </p:nvSpPr>
        <p:spPr>
          <a:xfrm>
            <a:off x="822960" y="5577840"/>
            <a:ext cx="105156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E8"/>
              </a:buClr>
              <a:buSzPts val="1300"/>
              <a:buFont typeface="Arial"/>
              <a:buNone/>
            </a:pPr>
            <a:r>
              <a:rPr i="0" lang="en-US" sz="1300" u="none" cap="none" strike="noStrike">
                <a:solidFill>
                  <a:srgbClr val="00D4E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10. Google Site Reliability Engineering Book.  https://sre.google/sre-book/table-of-contents/</a:t>
            </a:r>
            <a:endParaRPr i="0" sz="1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